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68" r:id="rId3"/>
    <p:sldId id="269" r:id="rId4"/>
    <p:sldId id="258" r:id="rId5"/>
    <p:sldId id="270" r:id="rId6"/>
    <p:sldId id="262" r:id="rId7"/>
    <p:sldId id="272" r:id="rId8"/>
    <p:sldId id="271" r:id="rId9"/>
    <p:sldId id="264" r:id="rId10"/>
    <p:sldId id="265" r:id="rId11"/>
    <p:sldId id="266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3"/>
  </p:normalViewPr>
  <p:slideViewPr>
    <p:cSldViewPr snapToGrid="0" snapToObjects="1">
      <p:cViewPr varScale="1">
        <p:scale>
          <a:sx n="127" d="100"/>
          <a:sy n="127" d="100"/>
        </p:scale>
        <p:origin x="184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003FB-261D-DF41-ADB7-499EC56B8F41}" type="datetimeFigureOut">
              <a:rPr lang="en-EG" smtClean="0"/>
              <a:t>21/12/2025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1825-7EB4-074C-9EEB-9060273D7FE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604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1825-7EB4-074C-9EEB-9060273D7FE4}" type="slidenum">
              <a:rPr lang="en-EG" smtClean="0"/>
              <a:t>4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35747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1825-7EB4-074C-9EEB-9060273D7FE4}" type="slidenum">
              <a:rPr lang="en-EG" smtClean="0"/>
              <a:t>9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08184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9634-621A-2089-50E0-B3C80F52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7"/>
            <a:ext cx="8352503" cy="218342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Component 2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I designed the Graph Retrieval Layer using 3 python files  and then validated and demonstrated the full pipeline in a </a:t>
            </a:r>
            <a:r>
              <a:rPr lang="en-US" sz="2800" dirty="0" err="1"/>
              <a:t>Jupyter</a:t>
            </a:r>
            <a:r>
              <a:rPr lang="en-US" sz="2800" dirty="0"/>
              <a:t> notebook</a:t>
            </a:r>
            <a:endParaRPr lang="en-E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A8A5-240C-F068-5A85-9DAB32505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119" y="2806443"/>
            <a:ext cx="8229601" cy="40515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dirty="0" err="1"/>
              <a:t>Graph_Retriever.py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as the main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Routes requests based on intent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baseline and embedding-based retrieval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dirty="0" err="1"/>
              <a:t>Baseline_Retriever.py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all Cypher query templates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exact graph queries</a:t>
            </a:r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dirty="0" err="1"/>
              <a:t>Embedding_Retriever.py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Node2Vec and </a:t>
            </a:r>
            <a:r>
              <a:rPr lang="en-US" dirty="0" err="1"/>
              <a:t>GraphSAGE</a:t>
            </a:r>
            <a:r>
              <a:rPr lang="en-US" dirty="0"/>
              <a:t>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embeddings on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vector similarity search in Neo4j</a:t>
            </a:r>
          </a:p>
          <a:p>
            <a:pPr marL="0" indent="0">
              <a:buNone/>
            </a:pP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97588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8CEC-8587-40D8-2E32-FF342583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 the baseline retrieval I implemented more than ten baseline Cypher queries to retrieve structured graph information.</a:t>
            </a:r>
            <a:br>
              <a:rPr lang="en-US" sz="2400" dirty="0"/>
            </a:br>
            <a:endParaRPr lang="en-EG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39552-BFF6-E401-0857-93B78135B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7638"/>
            <a:ext cx="4885399" cy="50519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629659-B92F-031A-6879-21B581354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931" y="1277942"/>
            <a:ext cx="5408338" cy="519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431BBF-DCB2-ED13-22CF-994C7DD64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929"/>
            <a:ext cx="5277834" cy="5888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55823-927F-1B36-A335-E8722E82A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45" y="0"/>
            <a:ext cx="577021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3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Graph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sz="2400" dirty="0">
                <a:latin typeface="Arial Hebrew Scholar" pitchFamily="2" charset="-79"/>
                <a:cs typeface="Arial Hebrew Scholar" pitchFamily="2" charset="-79"/>
              </a:rPr>
              <a:t>Nodes: Passenger, Journey, Flight, Airport</a:t>
            </a:r>
          </a:p>
          <a:p>
            <a:r>
              <a:rPr sz="2400" dirty="0">
                <a:latin typeface="Arial Hebrew Scholar" pitchFamily="2" charset="-79"/>
                <a:cs typeface="Arial Hebrew Scholar" pitchFamily="2" charset="-79"/>
              </a:rPr>
              <a:t>• Relationships: TOOK, ON, DEPARTS_FROM, ARRIVES_AT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2BD3E-CCB0-DDC8-F5D9-8A239B974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2037"/>
            <a:ext cx="91440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9ADD08-B8F8-5C89-2427-B6696BB5C6C1}"/>
              </a:ext>
            </a:extLst>
          </p:cNvPr>
          <p:cNvSpPr txBox="1"/>
          <p:nvPr/>
        </p:nvSpPr>
        <p:spPr>
          <a:xfrm>
            <a:off x="175980" y="501444"/>
            <a:ext cx="9099542" cy="6370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After baseline retrieval, I added an embedding-based retrieval layer</a:t>
            </a:r>
            <a:br>
              <a:rPr lang="en-US" sz="2400" dirty="0"/>
            </a:br>
            <a:r>
              <a:rPr lang="en-US" sz="2400" dirty="0"/>
              <a:t> using Node Embeddings</a:t>
            </a:r>
          </a:p>
          <a:p>
            <a:br>
              <a:rPr lang="en-US" sz="2400" dirty="0"/>
            </a:br>
            <a:r>
              <a:rPr lang="en-EG" sz="2400" dirty="0"/>
              <a:t>I </a:t>
            </a:r>
            <a:r>
              <a:rPr lang="en-US" sz="2400" dirty="0"/>
              <a:t>chose Node Embeddings because our data is naturally represented</a:t>
            </a:r>
            <a:br>
              <a:rPr lang="en-US" sz="2400" dirty="0"/>
            </a:br>
            <a:r>
              <a:rPr lang="en-US" sz="2400" dirty="0"/>
              <a:t> as a graph, and the goal is to capture structural and relational </a:t>
            </a:r>
            <a:br>
              <a:rPr lang="en-US" sz="2400" dirty="0"/>
            </a:br>
            <a:r>
              <a:rPr lang="en-US" sz="2400" dirty="0"/>
              <a:t>similarity between entities</a:t>
            </a:r>
          </a:p>
          <a:p>
            <a:endParaRPr lang="en-US" sz="2400" dirty="0"/>
          </a:p>
          <a:p>
            <a:r>
              <a:rPr lang="en-EG" sz="2400" dirty="0"/>
              <a:t>I implemented two models :</a:t>
            </a:r>
          </a:p>
          <a:p>
            <a:r>
              <a:rPr lang="en-US" sz="2400" dirty="0"/>
              <a:t>1) Node2Vec</a:t>
            </a:r>
          </a:p>
          <a:p>
            <a:r>
              <a:rPr lang="en-US" sz="2400" dirty="0"/>
              <a:t>	Captures structural similarity through random walks</a:t>
            </a:r>
          </a:p>
          <a:p>
            <a:endParaRPr lang="en-US" sz="2400" b="1" dirty="0"/>
          </a:p>
          <a:p>
            <a:r>
              <a:rPr lang="en-US" sz="2400" b="1" dirty="0"/>
              <a:t>2) </a:t>
            </a:r>
            <a:r>
              <a:rPr lang="en-US" sz="2400" b="1" dirty="0" err="1"/>
              <a:t>GraphSAGE</a:t>
            </a:r>
            <a:endParaRPr lang="en-US" sz="2400" dirty="0"/>
          </a:p>
          <a:p>
            <a:r>
              <a:rPr lang="en-US" sz="2400" dirty="0"/>
              <a:t>	Captures neighborhood semantics using neural aggregation</a:t>
            </a:r>
          </a:p>
          <a:p>
            <a:endParaRPr lang="en-EG" sz="2400" dirty="0"/>
          </a:p>
          <a:p>
            <a:r>
              <a:rPr lang="en-US" sz="2400" dirty="0"/>
              <a:t>I trained both models and compared their similarity outputs to </a:t>
            </a:r>
            <a:br>
              <a:rPr lang="en-US" sz="2400" dirty="0"/>
            </a:br>
            <a:r>
              <a:rPr lang="en-US" sz="2400" dirty="0"/>
              <a:t>analyze how different embedding strategies behave on the same graph.</a:t>
            </a:r>
          </a:p>
          <a:p>
            <a:endParaRPr lang="en-EG" sz="2400" dirty="0"/>
          </a:p>
        </p:txBody>
      </p:sp>
    </p:spTree>
    <p:extLst>
      <p:ext uri="{BB962C8B-B14F-4D97-AF65-F5344CB8AC3E}">
        <p14:creationId xmlns:p14="http://schemas.microsoft.com/office/powerpoint/2010/main" val="288960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Jupyter</a:t>
            </a:r>
            <a:r>
              <a:rPr lang="en-US" sz="2400" dirty="0"/>
              <a:t> notebook is used to execute, validate, and demonstrate the full retrieval pipeline.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623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1) Connection to Neo4j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2) Baseline query execution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Running Cypher queries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Displaying returned nodes and relationships</a:t>
            </a:r>
          </a:p>
          <a:p>
            <a:pPr marL="0" indent="0">
              <a:buNone/>
            </a:pPr>
            <a:r>
              <a:rPr lang="en-US" sz="2600" dirty="0"/>
              <a:t>3) Embedding 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Training Node2Vec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Training </a:t>
            </a:r>
            <a:r>
              <a:rPr lang="en-US" sz="2600" dirty="0" err="1"/>
              <a:t>GraphSAGE</a:t>
            </a:r>
            <a:endParaRPr lang="en-US" sz="2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Storing embeddings back into Neo4j</a:t>
            </a:r>
          </a:p>
          <a:p>
            <a:pPr marL="0" indent="0">
              <a:buNone/>
            </a:pPr>
            <a:r>
              <a:rPr lang="en-US" sz="2600" dirty="0"/>
              <a:t>4) Vector similarity search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Querying similar nodes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Comparing Node2Vec vs </a:t>
            </a:r>
            <a:r>
              <a:rPr lang="en-US" sz="2600" dirty="0" err="1"/>
              <a:t>GraphSAGE</a:t>
            </a:r>
            <a:r>
              <a:rPr lang="en-US" sz="2600" dirty="0"/>
              <a:t> results</a:t>
            </a:r>
          </a:p>
          <a:p>
            <a:pPr marL="457200" lvl="1" indent="0">
              <a:buNone/>
            </a:pPr>
            <a:endParaRPr lang="en-US" sz="2600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49A9-BD60-4261-9312-5C08EE32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1"/>
            <a:ext cx="8686800" cy="1343500"/>
          </a:xfrm>
        </p:spPr>
        <p:txBody>
          <a:bodyPr>
            <a:noAutofit/>
          </a:bodyPr>
          <a:lstStyle/>
          <a:p>
            <a:r>
              <a:rPr lang="en-EG" sz="2400" dirty="0"/>
              <a:t>After training both models</a:t>
            </a:r>
            <a:br>
              <a:rPr lang="en-EG" sz="2400" dirty="0"/>
            </a:br>
            <a:r>
              <a:rPr lang="en-US" sz="2400" dirty="0"/>
              <a:t>Each node is enriched with a learned vector representation capturing its structural context.</a:t>
            </a:r>
            <a:br>
              <a:rPr lang="en-US" sz="2400" dirty="0"/>
            </a:br>
            <a:endParaRPr lang="en-EG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62E5F8-8B75-F94C-A87C-2DF579E62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35" y="1248985"/>
            <a:ext cx="9053565" cy="5922797"/>
          </a:xfrm>
        </p:spPr>
      </p:pic>
    </p:spTree>
    <p:extLst>
      <p:ext uri="{BB962C8B-B14F-4D97-AF65-F5344CB8AC3E}">
        <p14:creationId xmlns:p14="http://schemas.microsoft.com/office/powerpoint/2010/main" val="1777855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F709-F033-46FE-134D-F5860D0C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768"/>
            <a:ext cx="8229600" cy="1143000"/>
          </a:xfrm>
        </p:spPr>
        <p:txBody>
          <a:bodyPr/>
          <a:lstStyle/>
          <a:p>
            <a:r>
              <a:rPr lang="en-EG" dirty="0"/>
              <a:t>Node2Vec similarity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2D47D-175E-7B02-D9D0-273DB590A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9931" y="1067448"/>
            <a:ext cx="9203931" cy="5790552"/>
          </a:xfrm>
        </p:spPr>
      </p:pic>
    </p:spTree>
    <p:extLst>
      <p:ext uri="{BB962C8B-B14F-4D97-AF65-F5344CB8AC3E}">
        <p14:creationId xmlns:p14="http://schemas.microsoft.com/office/powerpoint/2010/main" val="2232104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 err="1"/>
              <a:t>GraphSAGE</a:t>
            </a:r>
            <a:r>
              <a:rPr lang="en-US" dirty="0"/>
              <a:t> similarity search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A15591-7D46-6E43-3609-FAE50C0CE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919238"/>
            <a:ext cx="9144000" cy="5938762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And these are their outputs from the notebook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B50C61-C802-FA92-FC37-3B0B92A20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0104"/>
            <a:ext cx="5275385" cy="515229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70BD9-90EB-542A-20E3-265DB325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612" y="1381300"/>
            <a:ext cx="5651500" cy="5549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4153"/>
            <a:ext cx="8229600" cy="1143000"/>
          </a:xfrm>
        </p:spPr>
        <p:txBody>
          <a:bodyPr/>
          <a:lstStyle/>
          <a:p>
            <a:r>
              <a:rPr sz="3600" dirty="0"/>
              <a:t>Component</a:t>
            </a:r>
            <a:r>
              <a:rPr lang="en-US" dirty="0"/>
              <a:t>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40" y="184136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•⁠  ⁠Input received from preprocessing layer (intent + entities)</a:t>
            </a:r>
          </a:p>
          <a:p>
            <a:r>
              <a:rPr lang="en-US" sz="2400" dirty="0"/>
              <a:t>•⁠  ⁠Baseline Cypher query results retrieved from KG</a:t>
            </a:r>
          </a:p>
          <a:p>
            <a:r>
              <a:rPr lang="en-US" sz="2400" dirty="0"/>
              <a:t>•⁠  ⁠Embedding-based retrieval results</a:t>
            </a:r>
          </a:p>
          <a:p>
            <a:r>
              <a:rPr lang="en-US" sz="2400" dirty="0"/>
              <a:t>•⁠  ⁠Merge function combines both sources</a:t>
            </a:r>
          </a:p>
          <a:p>
            <a:r>
              <a:rPr lang="en-US" sz="2400" dirty="0"/>
              <a:t>•⁠  ⁠Duplicate flights removed</a:t>
            </a:r>
          </a:p>
          <a:p>
            <a:r>
              <a:rPr lang="en-US" sz="2400" dirty="0"/>
              <a:t>•⁠  ⁠Unified context prepared for LLM 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309AB-7AEE-D4AD-BEF9-100C45CB0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1" y="381837"/>
            <a:ext cx="9037242" cy="588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3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ACC78-3AC8-B64B-5E05-0A8FA558124E}"/>
              </a:ext>
            </a:extLst>
          </p:cNvPr>
          <p:cNvSpPr txBox="1"/>
          <p:nvPr/>
        </p:nvSpPr>
        <p:spPr>
          <a:xfrm>
            <a:off x="0" y="974690"/>
            <a:ext cx="86013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G" dirty="0"/>
              <a:t>•⁠  ⁠</a:t>
            </a:r>
            <a:r>
              <a:rPr lang="en-EG" sz="2400" dirty="0"/>
              <a:t>Persona defines the assistant role as a flight information assistant</a:t>
            </a:r>
          </a:p>
          <a:p>
            <a:r>
              <a:rPr lang="en-EG" sz="2400" dirty="0"/>
              <a:t>•⁠  ⁠Context contains only merged KG and embedding results</a:t>
            </a:r>
          </a:p>
          <a:p>
            <a:r>
              <a:rPr lang="en-EG" sz="2400" dirty="0"/>
              <a:t>•⁠  ⁠Task instructs the model to answer using provided context only</a:t>
            </a:r>
          </a:p>
          <a:p>
            <a:r>
              <a:rPr lang="en-EG" sz="2400" dirty="0"/>
              <a:t>•⁠  ⁠Same prompt structure used across all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3F1F9-4D44-66F6-3425-CA27A4CC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350"/>
            <a:ext cx="7656844" cy="41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75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1C8AED-136F-BE66-FF8E-DBC52B61BC52}"/>
              </a:ext>
            </a:extLst>
          </p:cNvPr>
          <p:cNvSpPr txBox="1"/>
          <p:nvPr/>
        </p:nvSpPr>
        <p:spPr>
          <a:xfrm>
            <a:off x="0" y="874207"/>
            <a:ext cx="110116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merged KG context used for all models</a:t>
            </a:r>
          </a:p>
          <a:p>
            <a:r>
              <a:rPr lang="en-US" dirty="0"/>
              <a:t>•⁠  ⁠Same structured prompt applied across models</a:t>
            </a:r>
          </a:p>
          <a:p>
            <a:r>
              <a:rPr lang="en-US" dirty="0"/>
              <a:t>•⁠  ⁠Multiple open-source LLMs selected for comparison</a:t>
            </a:r>
          </a:p>
          <a:p>
            <a:r>
              <a:rPr lang="en-US" dirty="0"/>
              <a:t>•⁠  ⁠Quantitative metric: response latency</a:t>
            </a:r>
          </a:p>
          <a:p>
            <a:r>
              <a:rPr lang="en-US" dirty="0"/>
              <a:t>•⁠  ⁠Qualitative evaluation: relevance and correctness</a:t>
            </a:r>
          </a:p>
          <a:p>
            <a:r>
              <a:rPr lang="en-US" dirty="0"/>
              <a:t>•⁠  ⁠Large models require extended inference time in notebook environment</a:t>
            </a:r>
          </a:p>
          <a:p>
            <a:endParaRPr lang="en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8FC4A-7311-1FA7-8983-F77FE63E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63" y="2882900"/>
            <a:ext cx="7449387" cy="193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3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476</Words>
  <Application>Microsoft Macintosh PowerPoint</Application>
  <PresentationFormat>On-screen Show (4:3)</PresentationFormat>
  <Paragraphs>64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Hebrew Scholar</vt:lpstr>
      <vt:lpstr>Calibri</vt:lpstr>
      <vt:lpstr>Office Theme</vt:lpstr>
      <vt:lpstr>Component 2   I designed the Graph Retrieval Layer using 3 python files  and then validated and demonstrated the full pipeline in a Jupyter notebook</vt:lpstr>
      <vt:lpstr>In the baseline retrieval I implemented more than ten baseline Cypher queries to retrieve structured graph information. </vt:lpstr>
      <vt:lpstr>PowerPoint Presentation</vt:lpstr>
      <vt:lpstr>Knowledge Graph Schema</vt:lpstr>
      <vt:lpstr>PowerPoint Presentation</vt:lpstr>
      <vt:lpstr>The Jupyter notebook is used to execute, validate, and demonstrate the full retrieval pipeline.</vt:lpstr>
      <vt:lpstr>After training both models Each node is enriched with a learned vector representation capturing its structural context. </vt:lpstr>
      <vt:lpstr>Node2Vec similarity search</vt:lpstr>
      <vt:lpstr>GraphSAGE similarity search</vt:lpstr>
      <vt:lpstr>And these are their outputs from the notebook</vt:lpstr>
      <vt:lpstr>Component 3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 2   I designed the Graph Retrieval Layer using 3 python files  and then validated and demonstrated the full pipeline in a Jupyter notebook</dc:title>
  <dc:subject/>
  <dc:creator/>
  <cp:keywords/>
  <dc:description>generated using python-pptx</dc:description>
  <cp:lastModifiedBy>Mostafa A</cp:lastModifiedBy>
  <cp:revision>3</cp:revision>
  <dcterms:created xsi:type="dcterms:W3CDTF">2013-01-27T09:14:16Z</dcterms:created>
  <dcterms:modified xsi:type="dcterms:W3CDTF">2025-12-22T10:58:12Z</dcterms:modified>
  <cp:category/>
</cp:coreProperties>
</file>