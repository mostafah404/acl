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Airline Knowledge Graph Project – Milestone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Course Project: Knowledge Graphs &amp; LLM Integration</a:t>
            </a:r>
          </a:p>
          <a:p>
            <a:pPr/>
            <a:r>
              <a:t>Theme: Airline Operations &amp; Passenger Experience</a:t>
            </a:r>
          </a:p>
          <a:p>
            <a:pPr/>
            <a:r>
              <a:t>Components Implemented: 1, 2, and 3</a:t>
            </a:r>
          </a:p>
          <a:p>
            <a:pPr/>
            <a:r>
              <a:t>Focus: Structured KG Retrieval + Embeddings + LLM Reasoning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Component 1: Intent &amp; Entity Extraction from user queries</a:t>
            </a:r>
          </a:p>
          <a:p>
            <a:pPr/>
            <a:r>
              <a:t>Component 2: Knowledge Graph Retrieval (Baseline + Embeddings)</a:t>
            </a:r>
          </a:p>
          <a:p>
            <a:pPr/>
            <a:r>
              <a:t>Component 3: LLM Reasoning Layer</a:t>
            </a:r>
          </a:p>
          <a:p>
            <a:pPr/>
            <a:r>
              <a:t>End-to-end pipeline: User Query → KG → LLM Answer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 1 – Intent &amp; Entity Extraction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Transforms natural language queries into structured intents</a:t>
            </a:r>
          </a:p>
          <a:p>
            <a:pPr/>
            <a:r>
              <a:t>Extracted entities: airports, flights, passengers, routes</a:t>
            </a:r>
          </a:p>
          <a:p>
            <a:pPr/>
            <a:r>
              <a:t>Provides a standardized interface for downstream retrieval</a:t>
            </a:r>
          </a:p>
          <a:p>
            <a:pPr/>
            <a:r>
              <a:t>Ensures separation between language understanding and KG access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Knowledge Graph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Node types: Passenger, Journey, Flight, Airport</a:t>
            </a:r>
          </a:p>
          <a:p>
            <a:pPr/>
            <a:r>
              <a:t>Relationships: TOOK, ON, DEPARTS_FROM, ARRIVES_AT</a:t>
            </a:r>
          </a:p>
          <a:p>
            <a:pPr/>
            <a:r>
              <a:t>Graph stored in Neo4j</a:t>
            </a:r>
          </a:p>
          <a:p>
            <a:pPr/>
            <a:r>
              <a:t>Schema supports operational and satisfaction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 2 – Baseline KG Retrieval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Implemented Cypher-based retrieval methods</a:t>
            </a:r>
          </a:p>
          <a:p>
            <a:pPr/>
            <a:r>
              <a:t>Examples: flights from airport, passengers on flight</a:t>
            </a:r>
          </a:p>
          <a:p>
            <a:pPr/>
            <a:r>
              <a:t>Deterministic and explainable results</a:t>
            </a:r>
          </a:p>
          <a:p>
            <a:pPr/>
            <a:r>
              <a:t>Used as the primary factual retrieval layer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Embeddings Were Needed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Baseline queries only return exact matches</a:t>
            </a:r>
          </a:p>
          <a:p>
            <a:pPr/>
            <a:r>
              <a:t>Cannot capture similarity or latent patterns</a:t>
            </a:r>
          </a:p>
          <a:p>
            <a:pPr/>
            <a:r>
              <a:t>Embeddings enable semantic similarity search</a:t>
            </a:r>
          </a:p>
          <a:p>
            <a:pPr/>
            <a:r>
              <a:t>Required by project specifications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 2 – Node Embeddings (Approach Chosen)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Each graph node is represented as a vector</a:t>
            </a:r>
          </a:p>
          <a:p>
            <a:pPr/>
            <a:r>
              <a:t>Similar nodes have similar embeddings</a:t>
            </a:r>
          </a:p>
          <a:p>
            <a:pPr/>
            <a:r>
              <a:t>Approach selected: Node Embeddings (not feature vectors)</a:t>
            </a:r>
          </a:p>
          <a:p>
            <a:pPr/>
            <a:r>
              <a:t>Aligned with Airline dataset characteristics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Embedding Models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Node2Vec: Random walks over graph structure</a:t>
            </a:r>
          </a:p>
          <a:p>
            <a:pPr/>
            <a:r>
              <a:t>GraphSAGE: Neural message passing between neighbors</a:t>
            </a:r>
          </a:p>
          <a:p>
            <a:pPr/>
            <a:r>
              <a:t>Both models trained and compared</a:t>
            </a:r>
          </a:p>
          <a:p>
            <a:pPr/>
            <a:r>
              <a:t>Embeddings stored as node properties in Neo4j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Vector Indexing &amp; Similarity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Neo4j vector indexes created per node label</a:t>
            </a:r>
          </a:p>
          <a:p>
            <a:pPr/>
            <a:r>
              <a:t>Cosine similarity used for comparison</a:t>
            </a:r>
          </a:p>
          <a:p>
            <a:pPr/>
            <a:r>
              <a:t>Top-K similar nodes retrieved efficiently</a:t>
            </a:r>
          </a:p>
          <a:p>
            <a:pPr/>
            <a:r>
              <a:t>Example: similar passengers or similar flights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 3 – Retrieval Merging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Baseline results provide factual grounding</a:t>
            </a:r>
          </a:p>
          <a:p>
            <a:pPr/>
            <a:r>
              <a:t>Embedding results provide semantic similarity</a:t>
            </a:r>
          </a:p>
          <a:p>
            <a:pPr/>
            <a:r>
              <a:t>Results merged by flight or entity ID</a:t>
            </a:r>
          </a:p>
          <a:p>
            <a:pPr/>
            <a:r>
              <a:t>Prevents hallucination and preserves structure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 3 – Prompt 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LLM receives ONLY retrieved KG context</a:t>
            </a:r>
          </a:p>
          <a:p>
            <a:pPr/>
            <a:r>
              <a:t>No external or hidden knowledge allowed</a:t>
            </a:r>
          </a:p>
          <a:p>
            <a:pPr/>
            <a:r>
              <a:t>Prompt includes role, context, and task</a:t>
            </a:r>
          </a:p>
          <a:p>
            <a:pPr/>
            <a:r>
              <a:t>Ensures explainable and grounded answers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LLM Models Evaluated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Mistral-7B Instruct</a:t>
            </a:r>
          </a:p>
          <a:p>
            <a:pPr/>
            <a:r>
              <a:t>Zephyr-7B</a:t>
            </a:r>
          </a:p>
          <a:p>
            <a:pPr/>
            <a:r>
              <a:t>LLaMA-2-7B Chat</a:t>
            </a:r>
          </a:p>
          <a:p>
            <a:pPr/>
            <a:r>
              <a:t>Compared response quality and latency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End-to-End Example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User asks about route delays or satisfaction</a:t>
            </a:r>
          </a:p>
          <a:p>
            <a:pPr/>
            <a:r>
              <a:t>Intent &amp; entities extracted (Component 1)</a:t>
            </a:r>
          </a:p>
          <a:p>
            <a:pPr/>
            <a:r>
              <a:t>Baseline + embedding retrieval (Component 2)</a:t>
            </a:r>
          </a:p>
          <a:p>
            <a:pPr/>
            <a:r>
              <a:t>LLM generates insights (Component 3)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Fully functional KG-backed question answering system</a:t>
            </a:r>
          </a:p>
          <a:p>
            <a:pPr/>
            <a:r>
              <a:t>Combines symbolic and semantic retrieval</a:t>
            </a:r>
          </a:p>
          <a:p>
            <a:pPr/>
            <a:r>
              <a:t>Scalable and modular design</a:t>
            </a:r>
          </a:p>
          <a:p>
            <a:pPr/>
            <a:r>
              <a:t>Meets all milestone requirements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All three components successfully integrated</a:t>
            </a:r>
          </a:p>
          <a:p>
            <a:pPr/>
            <a:r>
              <a:t>Design choices aligned with dataset and guidelines</a:t>
            </a:r>
          </a:p>
          <a:p>
            <a:pPr/>
            <a:r>
              <a:t>System is explainable, extensible, and robust</a:t>
            </a:r>
          </a:p>
          <a:p>
            <a:pPr/>
            <a:r>
              <a:t>Ready for evaluation and future extensions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